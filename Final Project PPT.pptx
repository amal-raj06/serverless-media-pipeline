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257" r:id="rId5"/>
    <p:sldId id="258" r:id="rId6"/>
    <p:sldId id="259" r:id="rId7"/>
    <p:sldId id="277" r:id="rId8"/>
    <p:sldId id="278" r:id="rId9"/>
    <p:sldId id="279" r:id="rId10"/>
    <p:sldId id="261" r:id="rId11"/>
    <p:sldId id="262" r:id="rId12"/>
    <p:sldId id="276" r:id="rId13"/>
    <p:sldId id="266" r:id="rId14"/>
    <p:sldId id="263" r:id="rId15"/>
    <p:sldId id="267" r:id="rId16"/>
    <p:sldId id="268" r:id="rId17"/>
    <p:sldId id="280" r:id="rId18"/>
    <p:sldId id="26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75" r:id="rId2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>
      <p:cViewPr varScale="1">
        <p:scale>
          <a:sx n="82" d="100"/>
          <a:sy n="82" d="100"/>
        </p:scale>
        <p:origin x="71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10/11/2026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Resilient Multi-Format Media Processing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Event-Driven, 13-AWS-Service Ingestion, Security &amp; Observability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33758-47F1-D9AF-7CCF-4874C54EA808}"/>
              </a:ext>
            </a:extLst>
          </p:cNvPr>
          <p:cNvSpPr txBox="1"/>
          <p:nvPr/>
        </p:nvSpPr>
        <p:spPr>
          <a:xfrm>
            <a:off x="7246540" y="4005064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/>
              <a:t>Presenter</a:t>
            </a:r>
            <a:r>
              <a:rPr lang="en-IN" sz="2000" dirty="0"/>
              <a:t>: Amal Raj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4C69-5812-B15E-5A59-51C8B14A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Engineering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1DBF-ED98-D81B-26E3-7DC82FE79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must ingest heterogeneous user uploads (Images, PDFs, Videos, Plain Text) securely, predictably, and at scale. </a:t>
            </a:r>
          </a:p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Pitfalls in Standard Ingestion Pipelines:</a:t>
            </a:r>
          </a:p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 Spoofing: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renaming malicious or corrupt files (e.g., malware.exe to invoice.pdf).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Non-Standard Byte Padding: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scanners adding non-standard BOM headers/padding, breaking strict binary parsers.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C-Extension Crashes: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library dependencies (Pillow / PIL) causing unhandled Lambda exceptions and crashing background workers.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Unauthenticated Ingestion Risks: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public bucket uploads risking bandwidth abuse and data corruption.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End-to-End Observability: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trace multi-service latency bottlenecks across serverless workflows. </a:t>
            </a:r>
          </a:p>
        </p:txBody>
      </p:sp>
    </p:spTree>
    <p:extLst>
      <p:ext uri="{BB962C8B-B14F-4D97-AF65-F5344CB8AC3E}">
        <p14:creationId xmlns:p14="http://schemas.microsoft.com/office/powerpoint/2010/main" val="280217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3698-07FD-6245-32B9-127CDDC5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B3DD3-3C8F-060D-7616-731208A73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Microservices Workflow: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Pre-Signed Ingestion: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requests S3 Pre-Signed PUT URLs via API Gateway to stream files directly into S3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RawMediaBucket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Fan-Out: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triggers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ObjectCreated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publishes to SNS Topic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fans out messages to SQS Processing Queue.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Orchestrated Processing: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SQS triggers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QueueConsumerFunction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invoke Step Functions state machine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MediaWorkerFunction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Transcoding: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magic-byte inspection, EXIF GPS stripping, dual-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(150*150 thumbnail + 800px  preview), and writes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ProcessedOutputBucket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Persistence &amp; Tracing: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and SHA-256 hashes are written to DynamoDB while AWS X-Ray captures distributed trace paths.</a:t>
            </a:r>
          </a:p>
        </p:txBody>
      </p:sp>
    </p:spTree>
    <p:extLst>
      <p:ext uri="{BB962C8B-B14F-4D97-AF65-F5344CB8AC3E}">
        <p14:creationId xmlns:p14="http://schemas.microsoft.com/office/powerpoint/2010/main" val="285850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company">
            <a:extLst>
              <a:ext uri="{FF2B5EF4-FFF2-40B4-BE49-F238E27FC236}">
                <a16:creationId xmlns:a16="http://schemas.microsoft.com/office/drawing/2014/main" id="{6A3BED07-8D09-1BE0-8D8D-003A88B82A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475" y="620688"/>
            <a:ext cx="7869874" cy="4392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F3B495-4D05-B57A-5B88-25C5D89906EB}"/>
              </a:ext>
            </a:extLst>
          </p:cNvPr>
          <p:cNvSpPr txBox="1"/>
          <p:nvPr/>
        </p:nvSpPr>
        <p:spPr>
          <a:xfrm>
            <a:off x="945840" y="5229200"/>
            <a:ext cx="10297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AWS Infrastructure (13 Services):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(Dual-Bucket) | SQS (+ DLQ) | Step Functions | Lambda | DynamoDB |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API Gateway | X-Ray | CloudWatch | SSM Parameter Store| IAM | Amazon Cognito | Amazon SNS</a:t>
            </a:r>
          </a:p>
        </p:txBody>
      </p:sp>
    </p:spTree>
    <p:extLst>
      <p:ext uri="{BB962C8B-B14F-4D97-AF65-F5344CB8AC3E}">
        <p14:creationId xmlns:p14="http://schemas.microsoft.com/office/powerpoint/2010/main" val="250061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90EA-412B-C941-1C3F-823D6352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 Security &amp; Pre-Signed Upload Route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58F58096-0B6E-3119-B5F6-D38CB70F1C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026" y="1628800"/>
            <a:ext cx="6948772" cy="3323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03C32C-956A-E236-A62F-1BF7C02500BE}"/>
              </a:ext>
            </a:extLst>
          </p:cNvPr>
          <p:cNvSpPr txBox="1"/>
          <p:nvPr/>
        </p:nvSpPr>
        <p:spPr>
          <a:xfrm>
            <a:off x="1538593" y="5301208"/>
            <a:ext cx="9721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 Route Management: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/upload-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5-minute scoped S3 Pre-Signed PUT URLs.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62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1C2305D8-23F1-AA7C-1EA8-42BAA72514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2" y="314871"/>
            <a:ext cx="5616625" cy="2916324"/>
          </a:xfrm>
          <a:prstGeom prst="rect">
            <a:avLst/>
          </a:prstGeom>
        </p:spPr>
      </p:pic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A009057E-D6F7-970F-C4B4-67F8949282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388" y="3429000"/>
            <a:ext cx="6048672" cy="3042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5F1C7-3C6D-EF85-2BC1-4AC6136DA453}"/>
              </a:ext>
            </a:extLst>
          </p:cNvPr>
          <p:cNvSpPr txBox="1"/>
          <p:nvPr/>
        </p:nvSpPr>
        <p:spPr>
          <a:xfrm>
            <a:off x="7102524" y="836712"/>
            <a:ext cx="43924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Public Bucket Exposure: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S3 media-ingestion-raw has Block all public access turned ON. Direct browser uploads are permitted exclusively via signed IAM tokens.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C0EBE-2C33-3B1A-B653-3013D2DDB4A2}"/>
              </a:ext>
            </a:extLst>
          </p:cNvPr>
          <p:cNvSpPr txBox="1"/>
          <p:nvPr/>
        </p:nvSpPr>
        <p:spPr>
          <a:xfrm>
            <a:off x="1413892" y="4077072"/>
            <a:ext cx="44644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CORS Policy: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S3 CORS allows standard HTTP methods (GET, PUT, POST) directly from authorized client origins.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4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650B-009A-8B51-2306-D0B4BC5C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Processing &amp;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66017-0D3B-2280-4E6C-74BB11D3B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Inspection (PDF / TXT)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Offset-Aware Header Check: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Scans the first 2,048 bytes for %PDF- magic bytes to handle scanner-generated byte offsets.  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Fault-Tolerant Parsing: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(strict=False) to extract page counts, authors, titles, and text previews without failing on non-standard padding.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62A02-9822-00F4-A305-D1D950E0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19" y="4217748"/>
            <a:ext cx="9979985" cy="9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7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64E6-D1AA-7C28-37F5-7643E5DB4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1052736"/>
            <a:ext cx="10360501" cy="6048671"/>
          </a:xfrm>
        </p:spPr>
        <p:txBody>
          <a:bodyPr>
            <a:normAutofit/>
          </a:bodyPr>
          <a:lstStyle/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(PNG / JPG / WEBP)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Verification: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byte-level binary checks (\x89PNG, 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\xd8) to validate incoming image streams.   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EXIF GPS Stripping: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Strips sensitive camera EXIF metadata and location coordinates before saving to output storage.   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resizes and converts uploads into 150*150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thumbnails and 800px preview images saved directly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ProcessedOutputBucket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5C604-0C1E-EC02-DBA2-F74F4BA0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03" y="3861048"/>
            <a:ext cx="9145016" cy="109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1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E3BD3-35E8-F6F2-1C2E-A2433A17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Container Parsing (MP4 / MOV / AVI)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 Container Checks: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ftyp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atoms.  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Extraction: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video duration, codecs (H.264/HEVC), resolutions (1080p), and frame rates.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1A794-4102-3668-6EF4-71DA7C89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83" y="3429000"/>
            <a:ext cx="9765300" cy="79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0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E837-893C-09B7-E2ED-ADA676E6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9988097" cy="96463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Console Screenshot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F299CC4-14CA-E542-BC43-6C7C16941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29" y="5054407"/>
            <a:ext cx="108011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DynamoDB State Persistence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MediaProcessingRegistry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 displaying successfully processed records with extracted structural metadata (Author,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ColorMode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Dimensions, SHA256).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739A7-E61D-EBB6-7354-B1B3FFAC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138" y="1355119"/>
            <a:ext cx="7318548" cy="353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4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541B-BC00-A8B6-01E5-E0DE01AA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Security &amp; Quarantine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8AB0-7A0A-685B-69DA-4D1BA346F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2" y="1628800"/>
            <a:ext cx="10360501" cy="4462272"/>
          </a:xfrm>
        </p:spPr>
        <p:txBody>
          <a:bodyPr>
            <a:normAutofit fontScale="925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Defense-in-Depth Validation (Magic Byte Protocol)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File extensions (.pdf, .jpg, .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user-controlled strings and present an attack vector for extension spoofing.  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The worker performs a non-destructive read of the raw payload binary stream in memory. It scans for format magic signatures (e.g., %PDF-, \x89PNG, 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\xd8) across the initial 2,048 bytes to handle offset headers added by mobile scanners.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Compute Execution (Fault Containment)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C-extension native libraries (e.g., Pillow image codecs, C-based PDF parsers) can crash unhandled when encountering corrupted binaries or zero-day poison pills.  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Metadata extraction, EXIF stripping,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thumbnail generation execute inside isolated exception blocks (try-except). A parsing failure inside Pillow sets the state to QUARANTINED cleanly, saving the AWS Lambda container from unhandled process execution failure.</a:t>
            </a:r>
          </a:p>
        </p:txBody>
      </p:sp>
    </p:spTree>
    <p:extLst>
      <p:ext uri="{BB962C8B-B14F-4D97-AF65-F5344CB8AC3E}">
        <p14:creationId xmlns:p14="http://schemas.microsoft.com/office/powerpoint/2010/main" val="339448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0CB71-8D79-4385-8E63-A28A6B53A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1" y="1196752"/>
            <a:ext cx="10360501" cy="5543381"/>
          </a:xfrm>
        </p:spPr>
        <p:txBody>
          <a:bodyPr>
            <a:normAutofit/>
          </a:bodyPr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Isolation via Dead-Letter Queues (DLQ)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Persistent compute crashes on poison-pill messages starve worker threads and waste cloud compute execution budgets.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The SQS processing queue enforces a Redrive Policy (max 3 retries).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Unparseable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payload messages are automatically ejected from main worker loops into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ProcessingDLQ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guaranteeing zero pipeline starvation and preserving overall system throughput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09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18296BB4-966C-35FE-360B-FDDADF64B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573" y="1344637"/>
            <a:ext cx="432047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Persisted state in DynamoDB showing error tagging and containment.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DEFD4-931A-29B4-0349-CAC7EC029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51" y="692696"/>
            <a:ext cx="5710379" cy="27196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64E9BB-B7F1-6F73-7C9F-23A4150BB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056" y="3717032"/>
            <a:ext cx="5933863" cy="28663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C4B97B-FAFF-45DB-571F-2613E16C5690}"/>
              </a:ext>
            </a:extLst>
          </p:cNvPr>
          <p:cNvSpPr txBox="1"/>
          <p:nvPr/>
        </p:nvSpPr>
        <p:spPr>
          <a:xfrm>
            <a:off x="738535" y="4725144"/>
            <a:ext cx="5256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UI status reflection via DynamoDB API polling.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95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C3E6-4F76-2A5A-1178-958F321A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44" y="26968"/>
            <a:ext cx="10969942" cy="13541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 Performance &amp; Operational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554D-F41E-A556-1A0E-54EBC85F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628800"/>
            <a:ext cx="10360501" cy="4462272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Sub-Second Compute Execution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execution duration is &lt; 800ms for deep magic-byte validation, EXIF stripping, and dual-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thumbnail generation.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invocations ensure immediate processing as soon as S3/SQS receives a payload.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Invocation Success Rate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graphs confirm 0 unhandled runtime faults (0% error rate) across all test runs.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exception blocks prevent C-extension crashes from failing the underlying Lambda execution container.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 &amp; Cost Efficiency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with optimal memory allocations and defensive timeouts to prevent execution runaway.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scale-to-zero model ensures zero compute cost when no files are being uploaded.</a:t>
            </a:r>
          </a:p>
        </p:txBody>
      </p:sp>
    </p:spTree>
    <p:extLst>
      <p:ext uri="{BB962C8B-B14F-4D97-AF65-F5344CB8AC3E}">
        <p14:creationId xmlns:p14="http://schemas.microsoft.com/office/powerpoint/2010/main" val="40637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B01CF9-0A7C-5DA5-B119-34884DD66300}"/>
              </a:ext>
            </a:extLst>
          </p:cNvPr>
          <p:cNvSpPr txBox="1"/>
          <p:nvPr/>
        </p:nvSpPr>
        <p:spPr>
          <a:xfrm>
            <a:off x="1377888" y="4941168"/>
            <a:ext cx="9433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CloudWatch metrics displaying sub-800ms worker duration and 100% invocation success rate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7B08E-6267-4AB3-0D56-AF7CB2A42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10" y="620688"/>
            <a:ext cx="7822604" cy="374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8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CFE2-708E-5EE6-29DE-61D11A15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274637"/>
            <a:ext cx="11089231" cy="12239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Observability &amp; Tracing (AWS X-Ray &amp; CloudWatch)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AE14-D9C3-CF53-B2B4-B11DF29DE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Request Tracing Across Microservices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AWS X-Ray across API Gateway, Lambda workers, SQS queues, and Step Functions state machines.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incoming upload payload generates a unique trace ID (X-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Amzn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-Trace-Id) passed through the entire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Pipeline Node Topology &amp; Latency Mapping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Gateway: Sub-43ms response for pre-signed URL issuance.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SQS Messaging Buffer: Average 371ms queue dwell time before worker consumption.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Execution: Sub-800ms validation, metadata extraction, and storage persistence.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Fault &amp; Bottleneck Auditing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CloudWatch trace map provides instant visual verification of service health.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0% 5xx fault rate across all active processing nodes.</a:t>
            </a:r>
          </a:p>
        </p:txBody>
      </p:sp>
    </p:spTree>
    <p:extLst>
      <p:ext uri="{BB962C8B-B14F-4D97-AF65-F5344CB8AC3E}">
        <p14:creationId xmlns:p14="http://schemas.microsoft.com/office/powerpoint/2010/main" val="17868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066995-2D96-B464-C74D-2D3603BB9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058" y="476672"/>
            <a:ext cx="8758708" cy="4171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F14B5E-9442-13EC-5D52-827869D8A081}"/>
              </a:ext>
            </a:extLst>
          </p:cNvPr>
          <p:cNvSpPr txBox="1"/>
          <p:nvPr/>
        </p:nvSpPr>
        <p:spPr>
          <a:xfrm>
            <a:off x="1125860" y="5157192"/>
            <a:ext cx="10369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X-Ray Service Map illustrating end-to-end distributed tracing, sub-43ms API latency, and 0% fault execution across all nodes.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3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45CB-A981-5B57-6C4D-769ED303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Real-Time Management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6838-8FF8-0B07-768F-74B82230E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Pipeline Registry &amp; Control Panel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Next.js frontend integrated with Tailwind CSS, polling API Gateway endpoints to reflect backend processing status in real time.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aggregated metric cards at a glance: Total Ingested, Processed Assets, and Quarantined Alerts.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 &amp; Asset Category Management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quick-filter tabs (All, Processed, Quarantined) to isolate corrupted or failed uploads instantly.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file metadata cards including original file size, MIME type, SHA-256 security hash, and image dimensions (150*150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800px preview).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Pre-Signed File Ingestion &amp; Downloads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 direct drag-and-drop upload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dropzone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Cognito-authenticated API Gateway routes.  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short-lived S3 pre-signed download URLs on demand, keeping raw and processed storage buckets 100% private. </a:t>
            </a:r>
          </a:p>
        </p:txBody>
      </p:sp>
    </p:spTree>
    <p:extLst>
      <p:ext uri="{BB962C8B-B14F-4D97-AF65-F5344CB8AC3E}">
        <p14:creationId xmlns:p14="http://schemas.microsoft.com/office/powerpoint/2010/main" val="105760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B5979F-0A23-EACF-87BF-C0A55B38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8" y="692696"/>
            <a:ext cx="10641470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B012-55ED-FC1B-50BB-094E2A0D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Resiliency &amp; Performance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8D79E-B710-DE3A-CEA6-FB1A4EFC2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800ms Compute Worker Latency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Sub-second execution for deep magic-byte validation, EXIF location scrubbing, metadata parsing, and dual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thumbnail generation.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Extension Spoofing Catch Rate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detection rate for executable-to-PDF spoofing (malware.exe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invoice.pdf) and offset-corrupted scanner payloads.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Unhandled Runtime Crashes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exception containment prevents C-extension panics (Pillow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crashing Lambda runtimes.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Zero-Trust Storage Exposure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S3 buckets enforce Block Public Access = On with 100% pre-signed IAM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404397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827F-D2EB-6FEB-B8DE-E922DF14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Roadmap &amp; Future Enhancements (Phase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B7853-4167-6684-89DC-032DE8BC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Edge Delivery &amp; Performance Optimization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CloudFront CDN Integration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edge caching for static media assets and signed URLs to reduce download latency for global users.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Offload bandwidth directly from S3 origin buckets to AWS edge locations.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Video &amp; Media Transcoding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Elemental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MediaConvert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video branch for converting raw MP4/MOV files into multi-resolution HLS/DASH adaptive bitrate streams.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generation of variable resolutions (4K, 1080p, 720p) and web-optimized thumbnails.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2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D5F1E-3897-1899-F9A5-394FDA60B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836712"/>
            <a:ext cx="10360501" cy="5687397"/>
          </a:xfrm>
        </p:spPr>
        <p:txBody>
          <a:bodyPr/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Message Ordering &amp; Event Reliability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SQS FIFO Queues &amp; Deduplication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 processing queues to SQS FIFO (.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audit-sensitive workloads requiring guaranteed sequential execution.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message deduplication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MessageDeduplicationId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eliminate duplicate event processing. 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Security &amp; Threat Intelligence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Moderation &amp; Virus Scanning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Amazon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Rekognition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visual content moderation and safety filtering.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automated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ClamAV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GuardDuty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malware scanning on uploaded S3 objects prior to triggering processing Lambda workers.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9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2F8-1E21-86FB-FB71-148289B9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Engineering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25210-B1A4-7D1B-15DA-B22147A24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Architectural Takeaways</a:t>
            </a:r>
          </a:p>
          <a:p>
            <a:pPr lvl="1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-in-Depth Media Validation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magic-byte inspection and sandboxed execution eliminate extension spoofing and prevent binary library crashes from failing cloud workers.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 Serverless Scalability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event fan-out across 13 AWS services guarantees sub-800ms compute processing and buffers unexpected traffic spikes seamlessly.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Zero-Trust Access &amp; Data Isolation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Scoped S3 Pre-Signed PUT/GET URLs keep storage buckets 100% private, preventing unauthenticated access and direct bucket bandwidth abuse.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Operational Observability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X-Ray and CloudWatch distributed tracing confirm 0% 5xx fault execution rates and sub-43ms API Gateway latencies.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5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084D76-A5DF-DAC3-5268-9EFF3AC29663}"/>
              </a:ext>
            </a:extLst>
          </p:cNvPr>
          <p:cNvSpPr txBox="1"/>
          <p:nvPr/>
        </p:nvSpPr>
        <p:spPr>
          <a:xfrm>
            <a:off x="1953952" y="2418813"/>
            <a:ext cx="8280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509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485</TotalTime>
  <Words>1630</Words>
  <Application>Microsoft Office PowerPoint</Application>
  <PresentationFormat>Custom</PresentationFormat>
  <Paragraphs>117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Tech 16x9</vt:lpstr>
      <vt:lpstr>Resilient Multi-Format Media Processing Pipeline</vt:lpstr>
      <vt:lpstr>Problem Statement &amp; Engineering Challenges</vt:lpstr>
      <vt:lpstr>System Architecture &amp; Workflow</vt:lpstr>
      <vt:lpstr>PowerPoint Presentation</vt:lpstr>
      <vt:lpstr>Ingestion Security &amp; Pre-Signed Upload Route</vt:lpstr>
      <vt:lpstr>PowerPoint Presentation</vt:lpstr>
      <vt:lpstr>Multi-Format Processing &amp; Feature Extraction</vt:lpstr>
      <vt:lpstr>PowerPoint Presentation</vt:lpstr>
      <vt:lpstr>PowerPoint Presentation</vt:lpstr>
      <vt:lpstr>AWS Console Screenshot:</vt:lpstr>
      <vt:lpstr>Defensive Security &amp; Quarantine Mechanism</vt:lpstr>
      <vt:lpstr>PowerPoint Presentation</vt:lpstr>
      <vt:lpstr>PowerPoint Presentation</vt:lpstr>
      <vt:lpstr>AWS Lambda Performance &amp; Operational Reliability</vt:lpstr>
      <vt:lpstr>PowerPoint Presentation</vt:lpstr>
      <vt:lpstr>End-to-End Observability &amp; Tracing (AWS X-Ray &amp; CloudWatch)</vt:lpstr>
      <vt:lpstr>PowerPoint Presentation</vt:lpstr>
      <vt:lpstr>Next.js Real-Time Management Dashboard</vt:lpstr>
      <vt:lpstr>PowerPoint Presentation</vt:lpstr>
      <vt:lpstr>Technical Resiliency &amp; Performance Benchmarks</vt:lpstr>
      <vt:lpstr>Production Roadmap &amp; Future Enhancements (Phase 2)</vt:lpstr>
      <vt:lpstr>PowerPoint Presentation</vt:lpstr>
      <vt:lpstr>Conclusion &amp; Key Engineering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 Raj</dc:creator>
  <cp:lastModifiedBy>Amal Raj</cp:lastModifiedBy>
  <cp:revision>155</cp:revision>
  <dcterms:created xsi:type="dcterms:W3CDTF">2026-10-06T16:39:07Z</dcterms:created>
  <dcterms:modified xsi:type="dcterms:W3CDTF">2026-10-11T17:42:09Z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