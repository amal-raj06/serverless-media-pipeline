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6"/>
  </p:notesMasterIdLst>
  <p:handoutMasterIdLst>
    <p:handoutMasterId r:id="rId27"/>
  </p:handoutMasterIdLst>
  <p:sldIdLst>
    <p:sldId id="257" r:id="rId5"/>
    <p:sldId id="258" r:id="rId6"/>
    <p:sldId id="259" r:id="rId7"/>
    <p:sldId id="277" r:id="rId8"/>
    <p:sldId id="260" r:id="rId9"/>
    <p:sldId id="264" r:id="rId10"/>
    <p:sldId id="265" r:id="rId11"/>
    <p:sldId id="261" r:id="rId12"/>
    <p:sldId id="262" r:id="rId13"/>
    <p:sldId id="276" r:id="rId14"/>
    <p:sldId id="266" r:id="rId15"/>
    <p:sldId id="263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>
      <p:cViewPr varScale="1">
        <p:scale>
          <a:sx n="82" d="100"/>
          <a:sy n="82" d="100"/>
        </p:scale>
        <p:origin x="710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10/11/2026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10/11/2026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10/11/2026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10/11/2026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10/11/2026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10/11/2026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10/11/2026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10/11/2026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10/11/2026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10/11/2026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Resilient Multi-Format Media Processing Pipeline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Event-Driven, 13-AWS-Service Ingestion, Security &amp; Observability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233758-47F1-D9AF-7CCF-4874C54EA808}"/>
              </a:ext>
            </a:extLst>
          </p:cNvPr>
          <p:cNvSpPr txBox="1"/>
          <p:nvPr/>
        </p:nvSpPr>
        <p:spPr>
          <a:xfrm>
            <a:off x="7246540" y="4005064"/>
            <a:ext cx="3816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000" b="1" dirty="0"/>
              <a:t>Presenter</a:t>
            </a:r>
            <a:r>
              <a:rPr lang="en-IN" sz="2000" dirty="0"/>
              <a:t>: Amal Raj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94C69-5812-B15E-5A59-51C8B14A6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Engineering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21DBF-ED98-D81B-26E3-7DC82FE79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applications must ingest heterogeneous user uploads (Images, PDFs, Videos, Plain Text) securely, predictably, and at scale. </a:t>
            </a:r>
          </a:p>
          <a:p>
            <a:r>
              <a:rPr lang="en-IN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Pitfalls in Standard Ingestion Pipelines:</a:t>
            </a:r>
          </a:p>
          <a:p>
            <a:r>
              <a:rPr lang="en-IN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Extension Spoofing: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renaming malicious or corrupt files (e.g., malware.exe to invoice.pdf).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Non-Standard Byte Padding: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scanners adding non-standard BOM headers/padding, breaking strict binary parsers.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Cascading C-Extension Crashes: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library dependencies (Pillow / PIL) causing unhandled Lambda exceptions and crashing background workers.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Unauthenticated Ingestion Risks: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public bucket uploads risking bandwidth abuse and data corruption.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End-to-End Observability: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Inability to trace multi-service latency bottlenecks across serverless workflows. </a:t>
            </a:r>
          </a:p>
        </p:txBody>
      </p:sp>
    </p:spTree>
    <p:extLst>
      <p:ext uri="{BB962C8B-B14F-4D97-AF65-F5344CB8AC3E}">
        <p14:creationId xmlns:p14="http://schemas.microsoft.com/office/powerpoint/2010/main" val="2802174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63698-07FD-6245-32B9-127CDDC5B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&amp;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B3DD3-3C8F-060D-7616-731208A73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Event-Driven Microservices Workflow:</a:t>
            </a:r>
          </a:p>
          <a:p>
            <a:pPr marL="720786" lvl="1" indent="-342900">
              <a:buFont typeface="+mj-lt"/>
              <a:buAutoNum type="arabicPeriod"/>
            </a:pPr>
            <a:r>
              <a:rPr lang="en-IN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Pre-Signed Ingestion: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Next.js requests S3 Pre-Signed PUT URLs via API Gateway to stream files directly into S3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RawMediaBucket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20786" lvl="1" indent="-342900">
              <a:buFont typeface="+mj-lt"/>
              <a:buAutoNum type="arabicPeriod"/>
            </a:pPr>
            <a:r>
              <a:rPr lang="en-IN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 Fan-Out: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 triggers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EventBridge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ObjectCreated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events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publishes to SNS Topic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fans out messages to SQS Processing Queue.</a:t>
            </a:r>
          </a:p>
          <a:p>
            <a:pPr marL="720786" lvl="1" indent="-342900">
              <a:buFont typeface="+mj-lt"/>
              <a:buAutoNum type="arabicPeriod"/>
            </a:pPr>
            <a:r>
              <a:rPr lang="en-IN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Orchestrated Processing: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SQS triggers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QueueConsumerFunction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invoke Step Functions state machine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executes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MediaWorkerFunction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20786" lvl="1" indent="-342900">
              <a:buFont typeface="+mj-lt"/>
              <a:buAutoNum type="arabicPeriod"/>
            </a:pPr>
            <a:r>
              <a:rPr lang="en-IN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&amp; Transcoding: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Performs magic-byte inspection, EXIF GPS stripping, dual-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generation ($150\times150$ thumbnail + $800\text{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}$ preview), and writes 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ProcessedOutputBucket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20786" lvl="1" indent="-342900">
              <a:buFont typeface="+mj-lt"/>
              <a:buAutoNum type="arabicPeriod"/>
            </a:pPr>
            <a:r>
              <a:rPr lang="en-IN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Persistence &amp; Tracing: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Metadata and SHA-256 hashes are written to DynamoDB while AWS X-Ray captures distributed trace paths.</a:t>
            </a:r>
          </a:p>
        </p:txBody>
      </p:sp>
    </p:spTree>
    <p:extLst>
      <p:ext uri="{BB962C8B-B14F-4D97-AF65-F5344CB8AC3E}">
        <p14:creationId xmlns:p14="http://schemas.microsoft.com/office/powerpoint/2010/main" val="2858503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oftware company">
            <a:extLst>
              <a:ext uri="{FF2B5EF4-FFF2-40B4-BE49-F238E27FC236}">
                <a16:creationId xmlns:a16="http://schemas.microsoft.com/office/drawing/2014/main" id="{6A3BED07-8D09-1BE0-8D8D-003A88B82A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475" y="620688"/>
            <a:ext cx="7869874" cy="43924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F3B495-4D05-B57A-5B88-25C5D89906EB}"/>
              </a:ext>
            </a:extLst>
          </p:cNvPr>
          <p:cNvSpPr txBox="1"/>
          <p:nvPr/>
        </p:nvSpPr>
        <p:spPr>
          <a:xfrm>
            <a:off x="945840" y="5229200"/>
            <a:ext cx="102971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Deployed AWS Infrastructure (13 Services):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 (Dual-Bucket) | SQS (+ DLQ) | Step Functions | Lambda | DynamoDB |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EventBridge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API Gateway | X-Ray | CloudWatch | SSM Parameter Store| IAM | Amazon Cognito | Amazon SNS</a:t>
            </a:r>
          </a:p>
        </p:txBody>
      </p:sp>
    </p:spTree>
    <p:extLst>
      <p:ext uri="{BB962C8B-B14F-4D97-AF65-F5344CB8AC3E}">
        <p14:creationId xmlns:p14="http://schemas.microsoft.com/office/powerpoint/2010/main" val="2500618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12785-F018-154A-4930-198808829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Next.js Dashboard Header / Empty State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Dropzone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F76620-CA00-38B9-7B2A-C85ABDD54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628800"/>
            <a:ext cx="9910837" cy="477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020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83BDD-69FA-A49D-17C1-2C4BE5D58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2" y="106693"/>
            <a:ext cx="10360501" cy="12239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Console Screenshots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CE40EA-91C5-314D-4717-39723DA68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020" y="1475476"/>
            <a:ext cx="7128792" cy="3432381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F963C99A-0B96-F51C-D37D-F79405906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2629" y="5123662"/>
            <a:ext cx="907300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AWS S3 Ingestion Tier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EventBridge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-enabled raw S3 bucket staging incoming heterogeneous payloads (.pdf, .jpg, corrupt binary payloads) with standard read/write permissions. </a:t>
            </a:r>
          </a:p>
        </p:txBody>
      </p:sp>
    </p:spTree>
    <p:extLst>
      <p:ext uri="{BB962C8B-B14F-4D97-AF65-F5344CB8AC3E}">
        <p14:creationId xmlns:p14="http://schemas.microsoft.com/office/powerpoint/2010/main" val="1307999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DF5BF9-B3D7-66B3-517D-BED6427FA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980" y="1123241"/>
            <a:ext cx="7556746" cy="3673911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5F5A59B6-AA52-2FCE-2FCC-E24DE5855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9876" y="5013176"/>
            <a:ext cx="964907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AWS Lambda Worker Configuration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Python 3.14 runtime configured with an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EventBridge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trigger, defensive timeouts, and custom layer dependencies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pypdf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Pillow). </a:t>
            </a:r>
          </a:p>
        </p:txBody>
      </p:sp>
    </p:spTree>
    <p:extLst>
      <p:ext uri="{BB962C8B-B14F-4D97-AF65-F5344CB8AC3E}">
        <p14:creationId xmlns:p14="http://schemas.microsoft.com/office/powerpoint/2010/main" val="4027596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4650B-009A-8B51-2306-D0B4BC5C7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Multi-Format Processing &amp; Feature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66017-0D3B-2280-4E6C-74BB11D3B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 Handling (PDF):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pypdf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fault-tolerant parsing (strict=False).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structural metadata: Page Count, Author, Title, and real-time text snippet previews.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99DDB6-F9FC-ED78-2DCD-B6BFB62E9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287" y="3573016"/>
            <a:ext cx="9396655" cy="145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276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664E6-D1AA-7C28-37F5-7643E5DB4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798172"/>
            <a:ext cx="10360501" cy="6048671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Handling (PNG / JPG / WEBP):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byte-level binary header checks (\x89PNG, \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xff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\xd8\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xff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Auto-rotates image stream using EXIF camera orientation tags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ImageOps.exif_transpose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).Extracts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 (RGB/RGBA) and pixel dimensions.</a:t>
            </a:r>
          </a:p>
          <a:p>
            <a:pPr lvl="1"/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Handling (TXT / MD / LOG):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 stream decoding (UTF-8 with fallback error handling) and character count extraction.</a:t>
            </a:r>
          </a:p>
          <a:p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Cryptographic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Provenance: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64-character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SHA256 checksums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payload immutability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88D5DC-E694-58BB-7D8F-5C1D488AA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883" y="2967124"/>
            <a:ext cx="9968500" cy="85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211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E3BD3-35E8-F6F2-1C2E-A2433A17F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Added Video Route (.mp4, .mov, .</a:t>
            </a:r>
            <a:r>
              <a:rPr lang="en-IN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avi</a:t>
            </a:r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.</a:t>
            </a:r>
            <a:r>
              <a:rPr lang="en-IN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webm</a:t>
            </a:r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I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binary container atom inspection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ftyp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moov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mdat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extraction of Duration, Codec (H.264/AAC), Resolution (1080p), and FPS attributes, along with player thumbnail card generation.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C1056B-A30F-06F8-33F7-199E7CE7E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900" y="3566012"/>
            <a:ext cx="9565024" cy="73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700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FE837-893C-09B7-E2ED-ADA676E64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8"/>
            <a:ext cx="9988097" cy="96463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Console Screenshot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21E624-D632-6797-BAB8-8440FBD56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527" y="1340768"/>
            <a:ext cx="7035769" cy="3398613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0F299CC4-14CA-E542-BC43-6C7C16941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829" y="5054407"/>
            <a:ext cx="1080119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DynamoDB State Persistence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MediaProcessingRegistry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table displaying successfully processed records with extracted structural metadata (Author,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PageCount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ColorMode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Dimensions, SHA256). </a:t>
            </a:r>
          </a:p>
        </p:txBody>
      </p:sp>
    </p:spTree>
    <p:extLst>
      <p:ext uri="{BB962C8B-B14F-4D97-AF65-F5344CB8AC3E}">
        <p14:creationId xmlns:p14="http://schemas.microsoft.com/office/powerpoint/2010/main" val="2143643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6541B-BC00-A8B6-01E5-E0DE01AAA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Defensive Security &amp; Quarantine Mechanism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58AB0-7A0A-685B-69DA-4D1BA346F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Inspection Over Extension Trust: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Ignores user-provided file extensions and inspects raw binary magic bytes (e.g., scanning first 2048 bytes for %PDF-).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Fault-Tolerant Sandboxing: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Thumbnail generation and secondary rendering are wrapped in isolated execution blocks (try-except).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C-extension loading issues never fail valid documents.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7886" lvl="1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4483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0CB71-8D79-4385-8E63-A28A6B53A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868" y="980728"/>
            <a:ext cx="10360501" cy="5543381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Quarantine Protocol: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Spoofed, corrupted, or unreadable payloads are immediately assigned Status: QUARANTINED in DynamoDB.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detailed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ErrorMessage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attributes (e.g., "FAILED_HEADER_OR_PARSING_INSPECTION") while preventing worker crash loops.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D89316-857B-B08C-EDFE-FDC216935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850" y="3573016"/>
            <a:ext cx="9054535" cy="130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090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9AA62-F72C-F64B-3D73-7E313EAA7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Console Screenshots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3BD42D-B8A4-61DE-6D4E-ABEB1B8CB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284" y="1628800"/>
            <a:ext cx="6648255" cy="3176736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18296BB4-966C-35FE-360B-FDDADF64B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2297" y="5157192"/>
            <a:ext cx="1005367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DynamoDB Quarantine Record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Persisted state for a non-compliant payload featuring Status: QUARANTINED and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ErrorMessage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FAILED_HEADER_OR_PARSING_INSPECTION. </a:t>
            </a:r>
          </a:p>
        </p:txBody>
      </p:sp>
    </p:spTree>
    <p:extLst>
      <p:ext uri="{BB962C8B-B14F-4D97-AF65-F5344CB8AC3E}">
        <p14:creationId xmlns:p14="http://schemas.microsoft.com/office/powerpoint/2010/main" val="1459957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412B0F-926B-5CC1-4FCB-502692FBE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964" y="980728"/>
            <a:ext cx="7635581" cy="36724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B01CF9-0A7C-5DA5-B119-34884DD66300}"/>
              </a:ext>
            </a:extLst>
          </p:cNvPr>
          <p:cNvSpPr txBox="1"/>
          <p:nvPr/>
        </p:nvSpPr>
        <p:spPr>
          <a:xfrm>
            <a:off x="1377888" y="4941168"/>
            <a:ext cx="94330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Lambda Performance Metrics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Operational graph displaying sub-800ms average execution duration, zero unhandled errors (100% invocation success rate), and predictable memory usage.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480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E3815-171A-D48A-15EC-53C45CE2C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Demo Protocol &amp; Test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2D752-5F1E-2425-B2DF-17341F12D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Case 1: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Generated Text PDF: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Verification: Native text extraction, author parsing, and page counting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PROCESSED (Green).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Case 2: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Scanned PDF (optical fibre.pdf):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Verification: Flexible offset magic byte detection &amp; scanner resilience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PROCESSED (Green).</a:t>
            </a:r>
          </a:p>
        </p:txBody>
      </p:sp>
    </p:spTree>
    <p:extLst>
      <p:ext uri="{BB962C8B-B14F-4D97-AF65-F5344CB8AC3E}">
        <p14:creationId xmlns:p14="http://schemas.microsoft.com/office/powerpoint/2010/main" val="3005964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203AE-8029-3617-D8D7-1DAD163EE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868" y="1268760"/>
            <a:ext cx="10360501" cy="4462272"/>
          </a:xfrm>
        </p:spPr>
        <p:txBody>
          <a:bodyPr>
            <a:normAutofit lnSpcReduction="10000"/>
          </a:bodyPr>
          <a:lstStyle/>
          <a:p>
            <a:r>
              <a:rPr lang="en-IN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Case 3: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File (IMG-20250810-WA0022.jpg):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Verification: EXIF camera orientation,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mode, and native image validation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PROCESSED (Green).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Case 4: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Poison-Pill / Spoofed File (test_corrupted_file.pdf):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Verification: Deep header validation failure triggers immediate containment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QUARANTINED (Red).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Case 5:Payload: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VID-20250719-WA0019.mp4Result: PROCESSED (Green badge with extracted video duration, codec, and frame rate displayed in the UI).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6490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79E5B-B7F6-219C-9BC4-89CB996CF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Highlights &amp; Resiliency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7F09-518E-C11D-037E-AAA0BECE5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Zero-Downtime Isolation: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Corrupted payloads are contained with zero impact on system throughput or serverless worker stability.</a:t>
            </a:r>
          </a:p>
          <a:p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Sub-Second Processing: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Lambda executes validation, metadata extraction, and DynamoDB updates in &lt; 800ms.</a:t>
            </a:r>
          </a:p>
          <a:p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Sync: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Next.js dashboard updates UI status badges smoothly via background polling.</a:t>
            </a:r>
          </a:p>
        </p:txBody>
      </p:sp>
    </p:spTree>
    <p:extLst>
      <p:ext uri="{BB962C8B-B14F-4D97-AF65-F5344CB8AC3E}">
        <p14:creationId xmlns:p14="http://schemas.microsoft.com/office/powerpoint/2010/main" val="125860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FE4A5-7179-0F61-4930-12CAA0F70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Trade-offs &amp; Scope Boundaries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9D6FFF8-5385-8FD8-03D9-191087224E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343595"/>
              </p:ext>
            </p:extLst>
          </p:nvPr>
        </p:nvGraphicFramePr>
        <p:xfrm>
          <a:off x="1557908" y="1701800"/>
          <a:ext cx="9361040" cy="4535511"/>
        </p:xfrm>
        <a:graphic>
          <a:graphicData uri="http://schemas.openxmlformats.org/drawingml/2006/table">
            <a:tbl>
              <a:tblPr/>
              <a:tblGrid>
                <a:gridCol w="3377992">
                  <a:extLst>
                    <a:ext uri="{9D8B030D-6E8A-4147-A177-3AD203B41FA5}">
                      <a16:colId xmlns:a16="http://schemas.microsoft.com/office/drawing/2014/main" val="927373976"/>
                    </a:ext>
                  </a:extLst>
                </a:gridCol>
                <a:gridCol w="5983048">
                  <a:extLst>
                    <a:ext uri="{9D8B030D-6E8A-4147-A177-3AD203B41FA5}">
                      <a16:colId xmlns:a16="http://schemas.microsoft.com/office/drawing/2014/main" val="3515203371"/>
                    </a:ext>
                  </a:extLst>
                </a:gridCol>
              </a:tblGrid>
              <a:tr h="622521">
                <a:tc>
                  <a:txBody>
                    <a:bodyPr/>
                    <a:lstStyle/>
                    <a:p>
                      <a:pPr algn="ctr" rtl="0"/>
                      <a:r>
                        <a:rPr lang="en-IN" sz="17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Architectural Scope</a:t>
                      </a:r>
                      <a:endParaRPr lang="en-IN" sz="17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624" marR="65624" marT="43750" marB="4375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Production Roadmap</a:t>
                      </a:r>
                      <a:endParaRPr lang="en-IN" sz="17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624" marR="65624" marT="43750" marB="4375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9260325"/>
                  </a:ext>
                </a:extLst>
              </a:tr>
              <a:tr h="1689700">
                <a:tc>
                  <a:txBody>
                    <a:bodyPr/>
                    <a:lstStyle/>
                    <a:p>
                      <a:pPr algn="ctr" rtl="0"/>
                      <a:r>
                        <a:rPr lang="en-IN" sz="1700" b="1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Presigned</a:t>
                      </a:r>
                      <a:r>
                        <a:rPr lang="en-IN" sz="17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S3 Uploads</a:t>
                      </a:r>
                      <a:endParaRPr lang="en-IN" sz="17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624" marR="65624" marT="43750" marB="4375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7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Constrained to direct </a:t>
                      </a:r>
                      <a:r>
                        <a:rPr lang="en-US" sz="17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dropzone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POC simplicity; production requires issuing short-lived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S3 </a:t>
                      </a:r>
                      <a:r>
                        <a:rPr lang="en-US" sz="1700" b="1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Presigned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URLs via API Gateway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enforce IAM authentication and prevent unauthenticated bandwidth abuse prior to upload.</a:t>
                      </a:r>
                    </a:p>
                  </a:txBody>
                  <a:tcPr marL="65624" marR="65624" marT="43750" marB="4375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686363"/>
                  </a:ext>
                </a:extLst>
              </a:tr>
              <a:tr h="2223290">
                <a:tc>
                  <a:txBody>
                    <a:bodyPr/>
                    <a:lstStyle/>
                    <a:p>
                      <a:pPr algn="ctr" rtl="0"/>
                      <a:r>
                        <a:rPr lang="en-IN" sz="17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SQS Queue Buffering</a:t>
                      </a:r>
                      <a:endParaRPr lang="en-IN" sz="17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624" marR="65624" marT="43750" marB="4375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17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 </a:t>
                      </a:r>
                      <a:r>
                        <a:rPr lang="en-IN" sz="17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EventBridge</a:t>
                      </a:r>
                      <a:r>
                        <a:rPr lang="en-IN" sz="17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-to-Lambda invocation was chosen to prioritize </a:t>
                      </a:r>
                      <a:r>
                        <a:rPr lang="en-IN" sz="17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sub-second latency for live demo validation</a:t>
                      </a:r>
                      <a:r>
                        <a:rPr lang="en-IN" sz="17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enterprise scale integrates an </a:t>
                      </a:r>
                      <a:r>
                        <a:rPr lang="en-IN" sz="17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AWS SQS FIFO Queue</a:t>
                      </a:r>
                      <a:r>
                        <a:rPr lang="en-IN" sz="17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between S3 and Lambda for burst concurrency isolation and Dead Letter Queue (DLQ) retry management.</a:t>
                      </a:r>
                    </a:p>
                  </a:txBody>
                  <a:tcPr marL="65624" marR="65624" marT="43750" marB="4375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905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6305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9E83F-F292-FF7A-9FE6-B46692DE6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86677-5CEC-A16A-7F2B-7A3263F98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Summary: Built an end-to-end, event-driven serverless pipeline combining multi-format ingestion with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-in-depth validation.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Takeaway: Validated that deep byte-level inspection and resilient exception sandboxing prevent false-positive failures and secure cloud workloads against corrupted user data.</a:t>
            </a:r>
          </a:p>
        </p:txBody>
      </p:sp>
    </p:spTree>
    <p:extLst>
      <p:ext uri="{BB962C8B-B14F-4D97-AF65-F5344CB8AC3E}">
        <p14:creationId xmlns:p14="http://schemas.microsoft.com/office/powerpoint/2010/main" val="372940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084D76-A5DF-DAC3-5268-9EFF3AC29663}"/>
              </a:ext>
            </a:extLst>
          </p:cNvPr>
          <p:cNvSpPr txBox="1"/>
          <p:nvPr/>
        </p:nvSpPr>
        <p:spPr>
          <a:xfrm>
            <a:off x="1953952" y="2418813"/>
            <a:ext cx="82809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15097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232</TotalTime>
  <Words>1101</Words>
  <Application>Microsoft Office PowerPoint</Application>
  <PresentationFormat>Custom</PresentationFormat>
  <Paragraphs>78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Tech 16x9</vt:lpstr>
      <vt:lpstr>Resilient Multi-Format Media Processing Pipeline</vt:lpstr>
      <vt:lpstr>Problem Statement &amp; Engineering Challenges</vt:lpstr>
      <vt:lpstr>System Architecture &amp; Workflow</vt:lpstr>
      <vt:lpstr>PowerPoint Presentation</vt:lpstr>
      <vt:lpstr>Next.js Dashboard Header / Empty State Dropzone</vt:lpstr>
      <vt:lpstr>AWS Console Screenshots:</vt:lpstr>
      <vt:lpstr>PowerPoint Presentation</vt:lpstr>
      <vt:lpstr>Multi-Format Processing &amp; Feature Extraction</vt:lpstr>
      <vt:lpstr>PowerPoint Presentation</vt:lpstr>
      <vt:lpstr>PowerPoint Presentation</vt:lpstr>
      <vt:lpstr>AWS Console Screenshot:</vt:lpstr>
      <vt:lpstr>Defensive Security &amp; Quarantine Mechanism</vt:lpstr>
      <vt:lpstr>PowerPoint Presentation</vt:lpstr>
      <vt:lpstr>AWS Console Screenshots:</vt:lpstr>
      <vt:lpstr>PowerPoint Presentation</vt:lpstr>
      <vt:lpstr>Live Demo Protocol &amp; Test Scenarios</vt:lpstr>
      <vt:lpstr>PowerPoint Presentation</vt:lpstr>
      <vt:lpstr>Technical Highlights &amp; Resiliency Metrics</vt:lpstr>
      <vt:lpstr>Architectural Trade-offs &amp; Scope Boundaries</vt:lpstr>
      <vt:lpstr>Conclusion &amp; Key Takeaways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Amal Raj</dc:creator>
  <cp:lastModifiedBy>Amal Raj</cp:lastModifiedBy>
  <cp:revision>74</cp:revision>
  <dcterms:created xsi:type="dcterms:W3CDTF">2026-10-06T16:39:07Z</dcterms:created>
  <dcterms:modified xsi:type="dcterms:W3CDTF">2026-10-11T13:28:12Z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